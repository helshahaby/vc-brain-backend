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03904" y="141732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417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AUTONOMOUS DILIGENCE · LIVE DEMO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-2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VentureBrain AI</a:t>
            </a:r>
            <a:endParaRPr lang="en-US" sz="88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C9B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Multi-Agent Due Diligence, End to End.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75504" y="4709160"/>
            <a:ext cx="182880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448" y="5074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448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8488" y="5074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58488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Nation · Global AI Hackathon 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07528" y="5074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07528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· Fintech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THE 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Diligence is
</a:t>
            </a:r>
            <a:pPr indent="0" marL="0">
              <a:lnSpc>
                <a:spcPct val="95000"/>
              </a:lnSpc>
              <a:buNone/>
            </a:pPr>
            <a:r>
              <a:rPr lang="en-US" sz="5600" b="1" i="1" spc="-1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slow, biased,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i="1" spc="-1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manual.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due diligence is historically slow, prone to cognitive bias, and manually intensive. Venture capitalists sift through thousands of applications — frequently without the immediate technical deep-dives or independent cross-examinations required to instantly separate authentic signal from marketing hyperbole.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rot="-480000">
            <a:off x="7863840" y="201168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5F3FF">
              <a:alpha val="8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480000">
            <a:off x="8092440" y="233172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480000">
            <a:off x="8092440" y="260604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480000">
            <a:off x="8092440" y="288036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480000">
            <a:off x="8092440" y="315468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480000">
            <a:off x="8092440" y="342900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480000">
            <a:off x="8092440" y="370332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480000">
            <a:off x="8092440" y="397764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360000">
            <a:off x="8229600" y="219456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5F3FF">
              <a:alpha val="8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360000">
            <a:off x="8458200" y="251460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360000">
            <a:off x="8458200" y="278892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360000">
            <a:off x="8458200" y="306324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360000">
            <a:off x="8458200" y="333756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60000">
            <a:off x="8458200" y="361188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360000">
            <a:off x="8458200" y="3886200"/>
            <a:ext cx="137160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360000">
            <a:off x="8458200" y="4160520"/>
            <a:ext cx="1737360" cy="45720"/>
          </a:xfrm>
          <a:prstGeom prst="rect">
            <a:avLst/>
          </a:prstGeom>
          <a:solidFill>
            <a:srgbClr val="F5F3FF">
              <a:alpha val="12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120000">
            <a:off x="8046720" y="237744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 rot="-120000">
            <a:off x="8138160" y="2514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rot="-120000">
            <a:off x="8229600" y="2926080"/>
            <a:ext cx="19202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120000">
            <a:off x="8229600" y="3182112"/>
            <a:ext cx="14630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120000">
            <a:off x="8229600" y="3438144"/>
            <a:ext cx="19202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120000">
            <a:off x="8229600" y="3694176"/>
            <a:ext cx="14630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120000">
            <a:off x="8229600" y="3950208"/>
            <a:ext cx="19202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120000">
            <a:off x="8229600" y="4206240"/>
            <a:ext cx="14630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120000">
            <a:off x="8229600" y="4462272"/>
            <a:ext cx="19202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20000">
            <a:off x="8229600" y="4718304"/>
            <a:ext cx="1463040" cy="45720"/>
          </a:xfrm>
          <a:prstGeom prst="rect">
            <a:avLst/>
          </a:prstGeom>
          <a:solidFill>
            <a:srgbClr val="F5F3FF">
              <a:alpha val="20000"/>
            </a:srgbClr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5623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6675120" y="6172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 PER QUARTER, UNREAD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THE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</a:t>
            </a:r>
            <a:pPr indent="0" marL="0">
              <a:lnSpc>
                <a:spcPct val="95000"/>
              </a:lnSpc>
              <a:buNone/>
            </a:pPr>
            <a:r>
              <a:rPr lang="en-US" sz="5600" b="1" i="1" spc="-1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</a:t>
            </a:r>
            <a:pPr indent="0" marL="0">
              <a:lnSpc>
                <a:spcPct val="95000"/>
              </a:lnSpc>
              <a:buNone/>
            </a:pP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committee.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VentureBrain is an autonomous multi-agent platform that stress-tests startup data through a structured, adversarial AI framework. Distinct personas — a critical Tech Reviewer, a Founder Trust Analyst, a Market Skeptic — challenge claims, verify metrics, and reach a quantitative consensus.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83880" y="2057400"/>
            <a:ext cx="2514600" cy="77724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183880" y="2057400"/>
            <a:ext cx="0" cy="315468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698480" y="2834640"/>
            <a:ext cx="0" cy="310896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183880" y="5212080"/>
            <a:ext cx="2514600" cy="73152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698480" y="2834640"/>
            <a:ext cx="-2514600" cy="237744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183880" y="2057400"/>
            <a:ext cx="2514600" cy="3886200"/>
          </a:xfrm>
          <a:prstGeom prst="line">
            <a:avLst/>
          </a:prstGeom>
          <a:noFill/>
          <a:ln w="9525">
            <a:solidFill>
              <a:srgbClr val="A78BFA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949440" y="17373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3102A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9168" y="184708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6EE7B7">
              <a:alpha val="25000"/>
            </a:srgbClr>
          </a:solidFill>
          <a:ln w="12700">
            <a:solidFill>
              <a:srgbClr val="6EE7B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1847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1828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Reviewer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208483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VELOCITY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464040" y="251460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3102A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73768" y="26243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7185">
              <a:alpha val="25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73768" y="2624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04120" y="26060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Trust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04120" y="286207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· RECORD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949440" y="489204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3102A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9168" y="50017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5001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4983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Skeptic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523951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· COMPETITION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464040" y="56235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3102A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73768" y="573328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73768" y="5733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04120" y="5715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04120" y="597103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CONSENSUS · DECISION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KEY FEATURES &amp; TECHNICAL MILESTONES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</a:t>
            </a:r>
            <a:pPr algn="l" indent="0" marL="0">
              <a:buNone/>
            </a:pPr>
            <a:r>
              <a:rPr lang="en-US" sz="4000" b="1" i="1" spc="-1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high-conviction</a:t>
            </a:r>
            <a:pPr algn="l" indent="0" marL="0">
              <a:buNone/>
            </a:pPr>
            <a:r>
              <a:rPr lang="en-US" sz="40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velocity.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0868" y="2468880"/>
            <a:ext cx="3611880" cy="3794760"/>
          </a:xfrm>
          <a:prstGeom prst="roundRect">
            <a:avLst>
              <a:gd name="adj" fmla="val 3797"/>
            </a:avLst>
          </a:prstGeom>
          <a:solidFill>
            <a:srgbClr val="13102A">
              <a:alpha val="8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468" y="2788920"/>
            <a:ext cx="45720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18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188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Multi-Agent Pipeline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5188" y="448056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FastAPI + Python backend orchestrates dynamic diligence debates — turning raw data into structured outputs: decision matrix, confidence, tech trust, founder integrity.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89908" y="2468880"/>
            <a:ext cx="3611880" cy="3794760"/>
          </a:xfrm>
          <a:prstGeom prst="roundRect">
            <a:avLst>
              <a:gd name="adj" fmla="val 3797"/>
            </a:avLst>
          </a:prstGeom>
          <a:solidFill>
            <a:srgbClr val="13102A">
              <a:alpha val="8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8508" y="2788920"/>
            <a:ext cx="457200" cy="274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422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64228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Decision Copilot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64228" y="448056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front-end context injector. Investors drop raw signal — verified GitHub stars, university enrollment tokens, third-party API evidence — to steer the active agent.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38948" y="2468880"/>
            <a:ext cx="3611880" cy="3794760"/>
          </a:xfrm>
          <a:prstGeom prst="roundRect">
            <a:avLst>
              <a:gd name="adj" fmla="val 3797"/>
            </a:avLst>
          </a:prstGeom>
          <a:solidFill>
            <a:srgbClr val="13102A">
              <a:alpha val="8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7548" y="2788920"/>
            <a:ext cx="457200" cy="274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3268" y="2926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13268" y="33375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Real-Time Infrastructure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13268" y="448056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event-driven architecture on Supabase Realtime. Any re-evaluation on the Python worker streams to the UI — cards shift across pipeline lanes with no page reload.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THE 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800" b="1" spc="-1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applications become a
</a:t>
            </a:r>
            <a:pPr algn="ctr" indent="0" marL="0">
              <a:lnSpc>
                <a:spcPct val="102000"/>
              </a:lnSpc>
              <a:buNone/>
            </a:pPr>
            <a:r>
              <a:rPr lang="en-US" sz="4800" b="1" i="1" spc="-1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conviction pipeline.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828800" y="352044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9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VentureBrain merges autonomous multi-perspective AI validation with human investment intuition — converting static applications into a live, auditable conviction pipeline, and significantly accelerating high-volume deal filtering for modern investment teams.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12368" y="4709160"/>
            <a:ext cx="3108960" cy="1691640"/>
          </a:xfrm>
          <a:prstGeom prst="roundRect">
            <a:avLst>
              <a:gd name="adj" fmla="val 8108"/>
            </a:avLst>
          </a:prstGeom>
          <a:solidFill>
            <a:srgbClr val="13102A">
              <a:alpha val="7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2368" y="4846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-200" kern="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6800" dirty="0"/>
          </a:p>
        </p:txBody>
      </p:sp>
      <p:sp>
        <p:nvSpPr>
          <p:cNvPr id="17" name="Shape 15"/>
          <p:cNvSpPr/>
          <p:nvPr/>
        </p:nvSpPr>
        <p:spPr>
          <a:xfrm>
            <a:off x="2483968" y="5943600"/>
            <a:ext cx="36576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2368" y="6035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 SCREENING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41368" y="4709160"/>
            <a:ext cx="3108960" cy="1691640"/>
          </a:xfrm>
          <a:prstGeom prst="roundRect">
            <a:avLst>
              <a:gd name="adj" fmla="val 8108"/>
            </a:avLst>
          </a:prstGeom>
          <a:solidFill>
            <a:srgbClr val="13102A">
              <a:alpha val="7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1368" y="4846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-200" kern="0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800" dirty="0"/>
          </a:p>
        </p:txBody>
      </p:sp>
      <p:sp>
        <p:nvSpPr>
          <p:cNvPr id="21" name="Shape 19"/>
          <p:cNvSpPr/>
          <p:nvPr/>
        </p:nvSpPr>
        <p:spPr>
          <a:xfrm>
            <a:off x="5912968" y="5943600"/>
            <a:ext cx="365760" cy="182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1368" y="6035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PER DEAL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70368" y="4709160"/>
            <a:ext cx="3108960" cy="1691640"/>
          </a:xfrm>
          <a:prstGeom prst="roundRect">
            <a:avLst>
              <a:gd name="adj" fmla="val 8108"/>
            </a:avLst>
          </a:prstGeom>
          <a:solidFill>
            <a:srgbClr val="13102A">
              <a:alpha val="70000"/>
            </a:srgbClr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0368" y="4846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-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800" dirty="0"/>
          </a:p>
        </p:txBody>
      </p:sp>
      <p:sp>
        <p:nvSpPr>
          <p:cNvPr id="25" name="Shape 23"/>
          <p:cNvSpPr/>
          <p:nvPr/>
        </p:nvSpPr>
        <p:spPr>
          <a:xfrm>
            <a:off x="9341968" y="5943600"/>
            <a:ext cx="365760" cy="182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0368" y="6035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AUDITABLE TRAIL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5486400" cy="4572000"/>
          </a:xfrm>
          <a:prstGeom prst="ellipse">
            <a:avLst/>
          </a:prstGeom>
          <a:solidFill>
            <a:srgbClr val="6EE7B7">
              <a:alpha val="10000"/>
            </a:srgbClr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92240"/>
            <a:ext cx="11274552" cy="4572"/>
          </a:xfrm>
          <a:prstGeom prst="rect">
            <a:avLst/>
          </a:prstGeom>
          <a:solidFill>
            <a:srgbClr val="2A2444"/>
          </a:solidFill>
          <a:ln w="12700">
            <a:solidFill>
              <a:srgbClr val="2A2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VENTUREBRAIN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8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 NATION · GLOBAL AI HACKATHON 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332720" y="118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0" b="1" i="1" spc="-200" kern="0" dirty="0">
                <a:solidFill>
                  <a:srgbClr val="F5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0800" dirty="0"/>
          </a:p>
        </p:txBody>
      </p:sp>
      <p:sp>
        <p:nvSpPr>
          <p:cNvPr id="14" name="Shape 12"/>
          <p:cNvSpPr/>
          <p:nvPr/>
        </p:nvSpPr>
        <p:spPr>
          <a:xfrm>
            <a:off x="5632704" y="4297680"/>
            <a:ext cx="91440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C9B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 — let's stress-test the pipeline.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448" y="5257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448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58488" y="5257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58488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VentureBrain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07528" y="5257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07528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Nation · Global AI Hackathon 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2026-07-19T12:35:41Z</dcterms:created>
  <dcterms:modified xsi:type="dcterms:W3CDTF">2026-07-19T12:35:41Z</dcterms:modified>
</cp:coreProperties>
</file>